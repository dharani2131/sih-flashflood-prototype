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custDataLst>
    <p:tags r:id="rId10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 snapToObjects="1" showGuides="1">
      <p:cViewPr>
        <p:scale>
          <a:sx n="66" d="100"/>
          <a:sy n="66" d="100"/>
        </p:scale>
        <p:origin x="1301" y="32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HP Simplified Hans Light" panose="020B0300000000000000" charset="-12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HP Simplified Hans Light" panose="020B0300000000000000" charset="-122"/>
              </a:rPr>
              <a:t>9/7/2026</a:t>
            </a:fld>
            <a:endParaRPr lang="en-US">
              <a:latin typeface="HP Simplified Hans Light" panose="020B0300000000000000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HP Simplified Hans Light" panose="020B0300000000000000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HP Simplified Hans Light" panose="020B0300000000000000" charset="-122"/>
              </a:rPr>
              <a:t>‹#›</a:t>
            </a:fld>
            <a:endParaRPr lang="en-US">
              <a:latin typeface="HP Simplified Hans Light" panose="020B03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HP Simplified Hans Light" panose="020B0300000000000000" charset="-122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HP Simplified Hans Light" panose="020B0300000000000000" charset="-122"/>
              </a:defRPr>
            </a:lvl1pPr>
          </a:lstStyle>
          <a:p>
            <a:fld id="{C4D5ADD5-2BBC-4A94-8F86-D9013941F742}" type="datetimeFigureOut">
              <a:rPr lang="en-US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HP Simplified Hans Light" panose="020B0300000000000000" charset="-122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HP Simplified Hans Light" panose="020B0300000000000000" charset="-122"/>
              </a:defRPr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P Simplified Hans Light" panose="020B0300000000000000" charset="-122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P Simplified Hans Light" panose="020B0300000000000000" charset="-122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P Simplified Hans Light" panose="020B0300000000000000" charset="-122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P Simplified Hans Light" panose="020B0300000000000000" charset="-122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P Simplified Hans Light" panose="020B0300000000000000" charset="-122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14224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13606" y="1549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44621" y="-71979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3365" y="851535"/>
            <a:ext cx="11685270" cy="4178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>
              <a:latin typeface="HP Simplified Hans Light" panose="020B0300000000000000" charset="-122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26192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FLASH FLOOD PREDICTION SYSTEM FOR HILLY REGIONS USING MULTISOURCE DATA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TECH TITANS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0160" y="2136140"/>
            <a:ext cx="12192000" cy="3749040"/>
          </a:xfrm>
          <a:prstGeom prst="rect">
            <a:avLst/>
          </a:prstGeom>
          <a:noFill/>
          <a:ln w="9525">
            <a:noFill/>
            <a:miter lim="800000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no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0010" y="972820"/>
            <a:ext cx="12019280" cy="575373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lstStyle/>
          <a:p>
            <a:pPr algn="l"/>
            <a:r>
              <a:rPr lang="en-US" sz="28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opperplate Gothic Bold" panose="020E0705020206020404" charset="0"/>
                <a:cs typeface="Copperplate Gothic Bold" panose="020E0705020206020404" charset="0"/>
              </a:rPr>
              <a:t>PROPOSED SOLUTION:</a:t>
            </a:r>
          </a:p>
          <a:p>
            <a:pPr indent="457200"/>
            <a:endParaRPr lang="en-US" dirty="0"/>
          </a:p>
          <a:p>
            <a:pPr indent="457200"/>
            <a:r>
              <a:rPr lang="en-US" b="1" dirty="0">
                <a:solidFill>
                  <a:srgbClr val="0070C0"/>
                </a:solidFill>
                <a:latin typeface="Arial Rounded MT Bold" panose="020F0704030504030204" charset="0"/>
                <a:cs typeface="Arial Rounded MT Bold" panose="020F0704030504030204" charset="0"/>
              </a:rPr>
              <a:t>* </a:t>
            </a:r>
            <a:r>
              <a:rPr lang="en-US" sz="2000" b="1" dirty="0">
                <a:solidFill>
                  <a:srgbClr val="0070C0"/>
                </a:solidFill>
                <a:latin typeface="Cooper Black" panose="0208090404030B020404" charset="0"/>
                <a:cs typeface="Cooper Black" panose="0208090404030B020404" charset="0"/>
              </a:rPr>
              <a:t> DETAILED EXPLANATION :</a:t>
            </a:r>
            <a:endParaRPr lang="en-US" b="1" dirty="0">
              <a:solidFill>
                <a:srgbClr val="0070C0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indent="457200"/>
            <a:r>
              <a:rPr lang="en-US" dirty="0"/>
              <a:t>          </a:t>
            </a:r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en-US" sz="2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AUTONOMOUS SYSTEM</a:t>
            </a:r>
            <a:r>
              <a:rPr lang="en-US" altLang="en-US" sz="2400" u="sng" dirty="0"/>
              <a:t>: 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Goudy Old Style" panose="02020502050305020303" charset="0"/>
                <a:cs typeface="Goudy Old Style" panose="02020502050305020303" charset="0"/>
              </a:rPr>
              <a:t>Integrated pipeline tracking environmental changes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 indent="457200"/>
            <a:r>
              <a:rPr lang="en-US" altLang="en-US" dirty="0"/>
              <a:t>          </a:t>
            </a:r>
            <a:r>
              <a:rPr lang="en-US" altLang="en-US" sz="2400" b="1" dirty="0"/>
              <a:t> </a:t>
            </a:r>
            <a:r>
              <a:rPr lang="en-US" altLang="en-US" sz="2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 FUSION</a:t>
            </a: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en-US" sz="2400" dirty="0">
                <a:latin typeface="Goudy Old Style" panose="02020502050305020303" charset="0"/>
                <a:cs typeface="Goudy Old Style" panose="02020502050305020303" charset="0"/>
              </a:rPr>
              <a:t>Combines satellite, sensor, and drone data</a:t>
            </a:r>
            <a:r>
              <a:rPr lang="en-US" altLang="en-US" sz="2400" dirty="0"/>
              <a:t>.</a:t>
            </a:r>
            <a:endParaRPr lang="en-US" altLang="en-US" dirty="0"/>
          </a:p>
          <a:p>
            <a:pPr indent="457200"/>
            <a:r>
              <a:rPr lang="en-US" altLang="en-US" dirty="0"/>
              <a:t>         </a:t>
            </a:r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 HUB:</a:t>
            </a:r>
            <a:r>
              <a:rPr lang="en-US" altLang="en-US" dirty="0"/>
              <a:t> </a:t>
            </a:r>
            <a:r>
              <a:rPr lang="en-US" altLang="en-US" sz="2400" dirty="0">
                <a:solidFill>
                  <a:schemeClr val="tx1"/>
                </a:solidFill>
                <a:latin typeface="Goudy Old Style" panose="02020502050305020303" charset="0"/>
                <a:cs typeface="Goudy Old Style" panose="02020502050305020303" charset="0"/>
              </a:rPr>
              <a:t>Central agency dashboard linked to local nodes </a:t>
            </a:r>
            <a:endParaRPr lang="en-US" altLang="en-US" dirty="0"/>
          </a:p>
          <a:p>
            <a:pPr indent="457200"/>
            <a:endParaRPr lang="en-US" altLang="en-US" dirty="0"/>
          </a:p>
          <a:p>
            <a:pPr indent="457200"/>
            <a:r>
              <a:rPr lang="en-US" altLang="en-US" sz="2000" b="1" dirty="0">
                <a:solidFill>
                  <a:schemeClr val="accent1"/>
                </a:solidFill>
                <a:latin typeface="Cooper Black" panose="0208090404030B020404" charset="0"/>
                <a:cs typeface="Cooper Black" panose="0208090404030B020404" charset="0"/>
              </a:rPr>
              <a:t>* 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Cooper Black" panose="0208090404030B020404" charset="0"/>
                <a:cs typeface="Cooper Black" panose="0208090404030B020404" charset="0"/>
              </a:rPr>
              <a:t>PROBLEM RESOLUTION :</a:t>
            </a:r>
            <a:r>
              <a:rPr lang="en-US" altLang="en-US" dirty="0"/>
              <a:t>   </a:t>
            </a:r>
          </a:p>
          <a:p>
            <a:pPr indent="457200"/>
            <a:r>
              <a:rPr lang="en-US" altLang="en-US" dirty="0"/>
              <a:t>       </a:t>
            </a:r>
            <a:r>
              <a:rPr lang="en-US" altLang="en-US" sz="2400" dirty="0"/>
              <a:t>   </a:t>
            </a:r>
            <a:r>
              <a:rPr lang="en-US" altLang="en-US" sz="2400" b="1" u="sng" dirty="0">
                <a:latin typeface="Consolas" panose="020B0609020204030204" charset="0"/>
                <a:cs typeface="Consolas" panose="020B0609020204030204" charset="0"/>
              </a:rPr>
              <a:t>EARLY WARNINGS</a:t>
            </a:r>
            <a:r>
              <a:rPr lang="en-US" altLang="en-US" dirty="0"/>
              <a:t>: </a:t>
            </a:r>
            <a:r>
              <a:rPr lang="en-US" altLang="en-US" sz="2400" dirty="0">
                <a:latin typeface="Goudy Old Style" panose="02020502050305020303" charset="0"/>
                <a:cs typeface="Goudy Old Style" panose="02020502050305020303" charset="0"/>
              </a:rPr>
              <a:t>Turns raw data into proactive timelines.</a:t>
            </a:r>
            <a:endParaRPr lang="en-US" altLang="en-US" dirty="0"/>
          </a:p>
          <a:p>
            <a:pPr indent="457200"/>
            <a:r>
              <a:rPr lang="en-US" altLang="en-US" dirty="0"/>
              <a:t>     </a:t>
            </a:r>
            <a:r>
              <a:rPr lang="en-US" altLang="en-US" sz="2000" b="1" dirty="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en-US" altLang="en-US" sz="2400" b="1" u="sng" dirty="0">
                <a:latin typeface="Consolas" panose="020B0609020204030204" charset="0"/>
                <a:cs typeface="Consolas" panose="020B0609020204030204" charset="0"/>
              </a:rPr>
              <a:t>OFFLINE SYNC</a:t>
            </a:r>
            <a:r>
              <a:rPr lang="en-US" altLang="en-US" sz="2000" b="1" dirty="0"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en-US" sz="2400" dirty="0">
                <a:latin typeface="Goudy Old Style" panose="02020502050305020303" charset="0"/>
                <a:cs typeface="Goudy Old Style" panose="02020502050305020303" charset="0"/>
              </a:rPr>
              <a:t> Uses mesh networks during grid failure</a:t>
            </a:r>
            <a:r>
              <a:rPr lang="en-US" altLang="en-US" sz="2000" dirty="0">
                <a:latin typeface="Goudy Old Style" panose="02020502050305020303" charset="0"/>
                <a:cs typeface="Goudy Old Style" panose="02020502050305020303" charset="0"/>
              </a:rPr>
              <a:t>.</a:t>
            </a:r>
          </a:p>
          <a:p>
            <a:pPr indent="457200"/>
            <a:r>
              <a:rPr lang="en-US" altLang="en-US" dirty="0"/>
              <a:t>         </a:t>
            </a:r>
            <a:r>
              <a:rPr lang="en-US" altLang="en-US" sz="2000" b="1" dirty="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400" b="1" u="sng" dirty="0">
                <a:latin typeface="Consolas" panose="020B0609020204030204" charset="0"/>
                <a:cs typeface="Consolas" panose="020B0609020204030204" charset="0"/>
              </a:rPr>
              <a:t>UNIFIED MAP</a:t>
            </a:r>
            <a:r>
              <a:rPr lang="en-US" altLang="en-US" sz="2400" dirty="0"/>
              <a:t>:</a:t>
            </a:r>
            <a:r>
              <a:rPr lang="en-US" altLang="en-US" sz="2400" dirty="0">
                <a:latin typeface="Goudy Old Style" panose="02020502050305020303" charset="0"/>
                <a:cs typeface="Goudy Old Style" panose="02020502050305020303" charset="0"/>
              </a:rPr>
              <a:t> Connects scattered teams via live data</a:t>
            </a:r>
            <a:r>
              <a:rPr lang="en-US" altLang="en-US" sz="2400" dirty="0"/>
              <a:t>.</a:t>
            </a:r>
          </a:p>
          <a:p>
            <a:pPr indent="457200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  </a:t>
            </a:r>
          </a:p>
          <a:p>
            <a:pPr indent="457200"/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  <a:latin typeface="Cooper Black" panose="0208090404030B020404" charset="0"/>
                <a:cs typeface="Cooper Black" panose="0208090404030B020404" charset="0"/>
              </a:rPr>
              <a:t>* INNOVATION AND UNIQUENESS :                                                                           </a:t>
            </a:r>
            <a:r>
              <a:rPr lang="en-US" altLang="en-US" sz="2800" b="1" i="1" dirty="0">
                <a:latin typeface="Gabriola" panose="04040605051002020D02" pitchFamily="82" charset="0"/>
                <a:cs typeface="Goudy Old Style" panose="02020502050305020303" charset="0"/>
              </a:rPr>
              <a:t>TRISHUL AI</a:t>
            </a:r>
            <a:endParaRPr lang="en-US" altLang="en-US" sz="2400" b="1" dirty="0">
              <a:solidFill>
                <a:schemeClr val="accent1">
                  <a:lumMod val="75000"/>
                </a:schemeClr>
              </a:solidFill>
              <a:latin typeface="Cooper Black" panose="0208090404030B020404" charset="0"/>
              <a:cs typeface="Cooper Black" panose="0208090404030B020404" charset="0"/>
            </a:endParaRPr>
          </a:p>
          <a:p>
            <a:pPr indent="457200"/>
            <a:r>
              <a:rPr lang="en-US" altLang="en-US" dirty="0"/>
              <a:t>        </a:t>
            </a:r>
            <a:r>
              <a:rPr lang="en-US" altLang="en-US" b="1" u="sng" dirty="0"/>
              <a:t>  </a:t>
            </a:r>
            <a:r>
              <a:rPr lang="en-US" altLang="en-US" sz="2400" b="1" u="sng" dirty="0">
                <a:latin typeface="Consolas" panose="020B0609020204030204" charset="0"/>
                <a:cs typeface="Consolas" panose="020B0609020204030204" charset="0"/>
              </a:rPr>
              <a:t>HYBRID NETWORK</a:t>
            </a:r>
            <a:r>
              <a:rPr lang="en-US" altLang="en-US" sz="2400" dirty="0"/>
              <a:t>:</a:t>
            </a:r>
            <a:r>
              <a:rPr lang="en-US" altLang="en-US" dirty="0"/>
              <a:t> </a:t>
            </a:r>
            <a:r>
              <a:rPr lang="en-US" altLang="en-US" sz="2400" dirty="0">
                <a:latin typeface="Goudy Old Style" panose="02020502050305020303" charset="0"/>
                <a:cs typeface="Goudy Old Style" panose="02020502050305020303" charset="0"/>
              </a:rPr>
              <a:t>Auto-switches to offline channels during blackouts.</a:t>
            </a:r>
          </a:p>
          <a:p>
            <a:pPr indent="457200"/>
            <a:r>
              <a:rPr lang="en-US" altLang="en-US" dirty="0"/>
              <a:t>          </a:t>
            </a:r>
            <a:r>
              <a:rPr lang="en-US" altLang="en-US" sz="2400" b="1" u="sng" dirty="0">
                <a:latin typeface="Consolas" panose="020B0609020204030204" charset="0"/>
                <a:cs typeface="Consolas" panose="020B0609020204030204" charset="0"/>
              </a:rPr>
              <a:t>CLEAR IMAGERY</a:t>
            </a:r>
            <a:r>
              <a:rPr lang="en-US" altLang="en-US" dirty="0"/>
              <a:t>: </a:t>
            </a:r>
            <a:r>
              <a:rPr lang="en-US" altLang="en-US" sz="2400" dirty="0">
                <a:latin typeface="Goudy Old Style" panose="02020502050305020303" charset="0"/>
                <a:cs typeface="Goudy Old Style" panose="02020502050305020303" charset="0"/>
              </a:rPr>
              <a:t>AI penetrates cloud cover via multi-spectrum feeds.</a:t>
            </a:r>
          </a:p>
          <a:p>
            <a:pPr indent="457200"/>
            <a:r>
              <a:rPr lang="en-US" altLang="en-US" dirty="0"/>
              <a:t>          </a:t>
            </a:r>
            <a:r>
              <a:rPr lang="en-US" altLang="en-US" sz="2400" b="1" u="sng" dirty="0">
                <a:latin typeface="Consolas" panose="020B0609020204030204" charset="0"/>
                <a:cs typeface="Consolas" panose="020B0609020204030204" charset="0"/>
              </a:rPr>
              <a:t>EDGE INDEXING</a:t>
            </a:r>
            <a:r>
              <a:rPr lang="en-US" altLang="en-US" dirty="0"/>
              <a:t>: </a:t>
            </a:r>
            <a:r>
              <a:rPr lang="en-US" altLang="en-US" sz="2400" dirty="0">
                <a:latin typeface="Goudy Old Style" panose="02020502050305020303" charset="0"/>
                <a:cs typeface="Goudy Old Style" panose="02020502050305020303" charset="0"/>
              </a:rPr>
              <a:t>Low-power sensors calculate risk without cloud servers</a:t>
            </a:r>
            <a:endParaRPr lang="en-US" altLang="en-US" sz="2400" b="1" i="1" dirty="0">
              <a:latin typeface="Gabriola" panose="04040605051002020D02" pitchFamily="82" charset="0"/>
              <a:cs typeface="Goudy Old Style" panose="02020502050305020303" charset="0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86360"/>
            <a:ext cx="10972800" cy="114300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TRISHUL   AI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3" y="8651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TECH TITANS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126365" y="3206750"/>
            <a:ext cx="11979275" cy="1079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2710" y="4924425"/>
            <a:ext cx="12012930" cy="1016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DFCF264-57FD-672C-6021-A37FCDD53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265" y="3001688"/>
            <a:ext cx="3480438" cy="2763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88315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565" y="252095"/>
            <a:ext cx="140525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TECH</a:t>
            </a:r>
          </a:p>
          <a:p>
            <a:pPr algn="ctr"/>
            <a:r>
              <a:rPr lang="en-US" altLang="en-IN" dirty="0"/>
              <a:t>TITANS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68605" y="1170940"/>
            <a:ext cx="5380990" cy="197294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2800" b="1">
                <a:solidFill>
                  <a:schemeClr val="accent2"/>
                </a:solidFill>
                <a:latin typeface="Britannic Bold" panose="020B0903060703020204" charset="0"/>
                <a:ea typeface="Google Sans"/>
                <a:cs typeface="Britannic Bold" panose="020B0903060703020204" charset="0"/>
              </a:rPr>
              <a:t>System Architecture</a:t>
            </a:r>
            <a:r>
              <a:rPr lang="en-US" sz="2800" b="1">
                <a:solidFill>
                  <a:schemeClr val="accent2"/>
                </a:solidFill>
                <a:latin typeface="Britannic Bold" panose="020B0903060703020204" charset="0"/>
                <a:ea typeface="Google Sans"/>
                <a:cs typeface="Britannic Bold" panose="020B0903060703020204" charset="0"/>
              </a:rPr>
              <a:t>:</a:t>
            </a:r>
            <a:endParaRPr sz="2800" b="1">
              <a:solidFill>
                <a:schemeClr val="accent2"/>
              </a:solidFill>
              <a:latin typeface="Britannic Bold" panose="020B0903060703020204" charset="0"/>
              <a:ea typeface="Google Sans"/>
              <a:cs typeface="Britannic Bold" panose="020B090306070302020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2400" b="1" u="sng">
                <a:latin typeface="Britannic Bold" panose="020B0903060703020204" charset="0"/>
                <a:ea typeface="Google Sans"/>
                <a:cs typeface="Britannic Bold" panose="020B0903060703020204" charset="0"/>
              </a:rPr>
              <a:t>Ingestion</a:t>
            </a:r>
            <a:r>
              <a:rPr sz="2400" b="1">
                <a:latin typeface="Britannic Bold" panose="020B0903060703020204" charset="0"/>
                <a:ea typeface="Google Sans"/>
                <a:cs typeface="Britannic Bold" panose="020B0903060703020204" charset="0"/>
              </a:rPr>
              <a:t>:</a:t>
            </a:r>
            <a:r>
              <a:rPr sz="2400" b="0">
                <a:latin typeface="Bell MT" panose="02020503060305020303" charset="0"/>
                <a:ea typeface="Google Sans"/>
                <a:cs typeface="Bell MT" panose="02020503060305020303" charset="0"/>
              </a:rPr>
              <a:t> Streams satellite, drone, and weather data.</a:t>
            </a: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2400" b="1" u="sng">
                <a:latin typeface="Britannic Bold" panose="020B0903060703020204" charset="0"/>
                <a:ea typeface="Google Sans"/>
                <a:cs typeface="Britannic Bold" panose="020B0903060703020204" charset="0"/>
              </a:rPr>
              <a:t>AI Core:</a:t>
            </a:r>
            <a:r>
              <a:rPr sz="2400" b="0">
                <a:latin typeface="Britannic Bold" panose="020B0903060703020204" charset="0"/>
                <a:ea typeface="Google Sans"/>
                <a:cs typeface="Britannic Bold" panose="020B0903060703020204" charset="0"/>
              </a:rPr>
              <a:t> </a:t>
            </a:r>
            <a:r>
              <a:rPr sz="2400" b="0">
                <a:latin typeface="Bell MT" panose="02020503060305020303" charset="0"/>
                <a:ea typeface="Google Sans"/>
                <a:cs typeface="Bell MT" panose="02020503060305020303" charset="0"/>
              </a:rPr>
              <a:t>Runs computer vision and predictive models.</a:t>
            </a:r>
            <a:endParaRPr sz="2400" b="0">
              <a:latin typeface="Britannic Bold" panose="020B0903060703020204" charset="0"/>
              <a:ea typeface="Google Sans"/>
              <a:cs typeface="Britannic Bold" panose="020B090306070302020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2400" b="1" u="sng">
                <a:latin typeface="Britannic Bold" panose="020B0903060703020204" charset="0"/>
                <a:ea typeface="Google Sans"/>
                <a:cs typeface="Britannic Bold" panose="020B0903060703020204" charset="0"/>
              </a:rPr>
              <a:t>Alert Layer:</a:t>
            </a:r>
            <a:r>
              <a:rPr sz="2400" b="0">
                <a:latin typeface="Britannic Bold" panose="020B0903060703020204" charset="0"/>
                <a:ea typeface="Google Sans"/>
                <a:cs typeface="Britannic Bold" panose="020B0903060703020204" charset="0"/>
              </a:rPr>
              <a:t> </a:t>
            </a:r>
            <a:r>
              <a:rPr sz="2400" b="0">
                <a:latin typeface="Bell MT" panose="02020503060305020303" charset="0"/>
                <a:ea typeface="Google Sans"/>
                <a:cs typeface="Bell MT" panose="02020503060305020303" charset="0"/>
              </a:rPr>
              <a:t>Routes notifications via online/offline channels.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sz="2400" b="1">
              <a:latin typeface="Bell MT" panose="02020503060305020303" charset="0"/>
              <a:ea typeface="Google Sans"/>
              <a:cs typeface="Bell MT" panose="02020503060305020303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sz="1600" b="1">
              <a:latin typeface="Google Sans"/>
              <a:ea typeface="Google Sans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sz="1600" b="0">
              <a:latin typeface="Google Sans"/>
              <a:ea typeface="Google Sans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240145" y="1142365"/>
            <a:ext cx="5648325" cy="2286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2800" b="1">
                <a:solidFill>
                  <a:schemeClr val="accent2"/>
                </a:solidFill>
                <a:latin typeface="Berlin Sans FB Demi" panose="020E0802020502020306" charset="0"/>
                <a:ea typeface="Google Sans"/>
                <a:cs typeface="Berlin Sans FB Demi" panose="020E0802020502020306" charset="0"/>
                <a:sym typeface="+mn-ea"/>
              </a:rPr>
              <a:t>Key Tech Stack</a:t>
            </a:r>
            <a:endParaRPr sz="2400" b="1">
              <a:latin typeface="Berlin Sans FB Demi" panose="020E0802020502020306" charset="0"/>
              <a:ea typeface="Google Sans"/>
              <a:cs typeface="Berlin Sans FB Demi" panose="020E0802020502020306" charset="0"/>
            </a:endParaRPr>
          </a:p>
          <a:p>
            <a:pPr marL="0" lvl="1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2400" b="1" u="sng">
                <a:solidFill>
                  <a:schemeClr val="accent6">
                    <a:lumMod val="60000"/>
                    <a:lumOff val="40000"/>
                  </a:schemeClr>
                </a:solidFill>
                <a:latin typeface="Britannic Bold" panose="020B0903060703020204" charset="0"/>
                <a:ea typeface="Google Sans"/>
                <a:cs typeface="Britannic Bold" panose="020B0903060703020204" charset="0"/>
                <a:sym typeface="+mn-ea"/>
              </a:rPr>
              <a:t>AI/Backend</a:t>
            </a:r>
            <a:r>
              <a:rPr sz="2400" b="1" u="sng">
                <a:latin typeface="Britannic Bold" panose="020B0903060703020204" charset="0"/>
                <a:ea typeface="Google Sans"/>
                <a:cs typeface="Britannic Bold" panose="020B0903060703020204" charset="0"/>
                <a:sym typeface="+mn-ea"/>
              </a:rPr>
              <a:t>:</a:t>
            </a:r>
            <a:r>
              <a:rPr sz="2400" u="sng">
                <a:latin typeface="Bell MT" panose="02020503060305020303" charset="0"/>
                <a:ea typeface="Google Sans"/>
                <a:cs typeface="Bell MT" panose="02020503060305020303" charset="0"/>
                <a:sym typeface="+mn-ea"/>
              </a:rPr>
              <a:t> </a:t>
            </a:r>
            <a:r>
              <a:rPr sz="2400">
                <a:latin typeface="Bell MT" panose="02020503060305020303" charset="0"/>
                <a:ea typeface="Google Sans"/>
                <a:cs typeface="Bell MT" panose="02020503060305020303" charset="0"/>
                <a:sym typeface="+mn-ea"/>
              </a:rPr>
              <a:t>Python, TensorFlow, PyTorch, Node-RED.</a:t>
            </a:r>
            <a:endParaRPr sz="2400" b="0">
              <a:latin typeface="Google Sans"/>
              <a:ea typeface="Google Sans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2400" b="1" u="sng">
                <a:solidFill>
                  <a:schemeClr val="accent6">
                    <a:lumMod val="60000"/>
                    <a:lumOff val="40000"/>
                  </a:schemeClr>
                </a:solidFill>
                <a:latin typeface="Britannic Bold" panose="020B0903060703020204" charset="0"/>
                <a:ea typeface="Google Sans"/>
                <a:cs typeface="Britannic Bold" panose="020B0903060703020204" charset="0"/>
                <a:sym typeface="+mn-ea"/>
              </a:rPr>
              <a:t>GIS Engine</a:t>
            </a:r>
            <a:r>
              <a:rPr sz="2400" b="1" u="sng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  <a:ea typeface="Google Sans"/>
                <a:sym typeface="+mn-ea"/>
              </a:rPr>
              <a:t>:</a:t>
            </a:r>
            <a:r>
              <a:rPr sz="2400">
                <a:solidFill>
                  <a:schemeClr val="accent6">
                    <a:lumMod val="60000"/>
                    <a:lumOff val="40000"/>
                  </a:schemeClr>
                </a:solidFill>
                <a:latin typeface="Google Sans"/>
                <a:ea typeface="Google Sans"/>
                <a:sym typeface="+mn-ea"/>
              </a:rPr>
              <a:t> </a:t>
            </a:r>
            <a:r>
              <a:rPr sz="2400">
                <a:latin typeface="Bell MT" panose="02020503060305020303" charset="0"/>
                <a:ea typeface="Google Sans"/>
                <a:cs typeface="Bell MT" panose="02020503060305020303" charset="0"/>
                <a:sym typeface="+mn-ea"/>
              </a:rPr>
              <a:t>GDAL, QGIS, Sentinel Hub API.</a:t>
            </a:r>
            <a:endParaRPr sz="2400" b="0">
              <a:latin typeface="Bell MT" panose="02020503060305020303" charset="0"/>
              <a:ea typeface="Google Sans"/>
              <a:cs typeface="Bell MT" panose="02020503060305020303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2400" b="1" u="sng">
                <a:solidFill>
                  <a:schemeClr val="accent6">
                    <a:lumMod val="60000"/>
                    <a:lumOff val="40000"/>
                  </a:schemeClr>
                </a:solidFill>
                <a:latin typeface="Britannic Bold" panose="020B0903060703020204" charset="0"/>
                <a:ea typeface="Google Sans"/>
                <a:cs typeface="Britannic Bold" panose="020B0903060703020204" charset="0"/>
                <a:sym typeface="+mn-ea"/>
              </a:rPr>
              <a:t>Edge Hardware</a:t>
            </a:r>
            <a:r>
              <a:rPr sz="2400" b="1">
                <a:latin typeface="Google Sans"/>
                <a:ea typeface="Google Sans"/>
                <a:sym typeface="+mn-ea"/>
              </a:rPr>
              <a:t>:</a:t>
            </a:r>
            <a:r>
              <a:rPr sz="2400">
                <a:latin typeface="Bell MT" panose="02020503060305020303" charset="0"/>
                <a:ea typeface="Google Sans"/>
                <a:cs typeface="Bell MT" panose="02020503060305020303" charset="0"/>
                <a:sym typeface="+mn-ea"/>
              </a:rPr>
              <a:t> Raspberry Pi, LoRa Transceivers.</a:t>
            </a:r>
            <a:endParaRPr sz="2400">
              <a:latin typeface="Bell MT" panose="02020503060305020303" charset="0"/>
              <a:ea typeface="Google Sans"/>
              <a:cs typeface="Bell MT" panose="02020503060305020303" charset="0"/>
            </a:endParaRPr>
          </a:p>
        </p:txBody>
      </p:sp>
      <p:sp>
        <p:nvSpPr>
          <p:cNvPr id="20000" name="Execution Steps Title"/>
          <p:cNvSpPr txBox="1"/>
          <p:nvPr/>
        </p:nvSpPr>
        <p:spPr>
          <a:xfrm>
            <a:off x="630936" y="4171859"/>
            <a:ext cx="11256264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b="1">
                <a:solidFill>
                  <a:schemeClr val="accent2"/>
                </a:solidFill>
                <a:latin typeface="Google Sans"/>
                <a:ea typeface="Google Sans"/>
              </a:rPr>
              <a:t>EXECUTION STEPS</a:t>
            </a:r>
          </a:p>
        </p:txBody>
      </p:sp>
      <p:sp>
        <p:nvSpPr>
          <p:cNvPr id="20001" name="Step Circle 1"/>
          <p:cNvSpPr/>
          <p:nvPr/>
        </p:nvSpPr>
        <p:spPr>
          <a:xfrm>
            <a:off x="2072640" y="4574195"/>
            <a:ext cx="868680" cy="8686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19050" dir="5400000" rotWithShape="0">
              <a:srgbClr val="000000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Google Sans"/>
                <a:ea typeface="Google Sans"/>
              </a:rPr>
              <a:t>1</a:t>
            </a:r>
          </a:p>
        </p:txBody>
      </p:sp>
      <p:sp>
        <p:nvSpPr>
          <p:cNvPr id="20002" name="Step Circle 2"/>
          <p:cNvSpPr/>
          <p:nvPr/>
        </p:nvSpPr>
        <p:spPr>
          <a:xfrm>
            <a:off x="5824728" y="4574195"/>
            <a:ext cx="868680" cy="86868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50800" dist="19050" dir="5400000" rotWithShape="0">
              <a:srgbClr val="000000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Google Sans"/>
                <a:ea typeface="Google Sans"/>
              </a:rPr>
              <a:t>2</a:t>
            </a:r>
          </a:p>
        </p:txBody>
      </p:sp>
      <p:sp>
        <p:nvSpPr>
          <p:cNvPr id="20003" name="Step Circle 3"/>
          <p:cNvSpPr/>
          <p:nvPr/>
        </p:nvSpPr>
        <p:spPr>
          <a:xfrm>
            <a:off x="9576816" y="4574195"/>
            <a:ext cx="868680" cy="86868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19050" dir="5400000" rotWithShape="0">
              <a:srgbClr val="000000">
                <a:alpha val="3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Google Sans"/>
                <a:ea typeface="Google Sans"/>
              </a:rPr>
              <a:t>3</a:t>
            </a:r>
          </a:p>
        </p:txBody>
      </p:sp>
      <p:sp>
        <p:nvSpPr>
          <p:cNvPr id="20004" name="Arrow 1"/>
          <p:cNvSpPr/>
          <p:nvPr/>
        </p:nvSpPr>
        <p:spPr>
          <a:xfrm>
            <a:off x="2941320" y="4894235"/>
            <a:ext cx="2883408" cy="228600"/>
          </a:xfrm>
          <a:prstGeom prst="rightArrow">
            <a:avLst>
              <a:gd name="adj1" fmla="val 60000"/>
              <a:gd name="adj2" fmla="val 60000"/>
            </a:avLst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05" name="Arrow 2"/>
          <p:cNvSpPr/>
          <p:nvPr/>
        </p:nvSpPr>
        <p:spPr>
          <a:xfrm>
            <a:off x="6693408" y="4894235"/>
            <a:ext cx="2883408" cy="228600"/>
          </a:xfrm>
          <a:prstGeom prst="rightArrow">
            <a:avLst>
              <a:gd name="adj1" fmla="val 60000"/>
              <a:gd name="adj2" fmla="val 60000"/>
            </a:avLst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06" name="Caption Collection"/>
          <p:cNvSpPr txBox="1"/>
          <p:nvPr/>
        </p:nvSpPr>
        <p:spPr>
          <a:xfrm>
            <a:off x="630936" y="5479451"/>
            <a:ext cx="3752088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500" b="1">
                <a:solidFill>
                  <a:schemeClr val="accent1"/>
                </a:solidFill>
                <a:latin typeface="Google Sans"/>
                <a:ea typeface="Google Sans"/>
              </a:rPr>
              <a:t>Collection</a:t>
            </a:r>
          </a:p>
          <a:p>
            <a:pPr algn="ctr"/>
            <a:r>
              <a:rPr lang="en-US" sz="1100">
                <a:latin typeface="Google Sans"/>
                <a:ea typeface="Google Sans"/>
              </a:rPr>
              <a:t>Pulls real-time spatial &amp; environmental streams</a:t>
            </a:r>
          </a:p>
        </p:txBody>
      </p:sp>
      <p:sp>
        <p:nvSpPr>
          <p:cNvPr id="20007" name="Caption Analysis"/>
          <p:cNvSpPr txBox="1"/>
          <p:nvPr/>
        </p:nvSpPr>
        <p:spPr>
          <a:xfrm>
            <a:off x="4383024" y="5479451"/>
            <a:ext cx="3752088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500" b="1">
                <a:solidFill>
                  <a:schemeClr val="accent2"/>
                </a:solidFill>
                <a:latin typeface="Google Sans"/>
                <a:ea typeface="Google Sans"/>
              </a:rPr>
              <a:t>Analysis</a:t>
            </a:r>
          </a:p>
          <a:p>
            <a:pPr algn="ctr"/>
            <a:r>
              <a:rPr lang="en-US" sz="1100">
                <a:latin typeface="Google Sans"/>
                <a:ea typeface="Google Sans"/>
              </a:rPr>
              <a:t>Detects terrain changes &amp; calculates active hazards</a:t>
            </a:r>
          </a:p>
        </p:txBody>
      </p:sp>
      <p:sp>
        <p:nvSpPr>
          <p:cNvPr id="20008" name="Caption Dispatch"/>
          <p:cNvSpPr txBox="1"/>
          <p:nvPr/>
        </p:nvSpPr>
        <p:spPr>
          <a:xfrm>
            <a:off x="8135112" y="5479451"/>
            <a:ext cx="3752088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1500" b="1">
                <a:solidFill>
                  <a:schemeClr val="accent6"/>
                </a:solidFill>
                <a:latin typeface="Google Sans"/>
                <a:ea typeface="Google Sans"/>
              </a:rPr>
              <a:t>Dispatch</a:t>
            </a:r>
          </a:p>
          <a:p>
            <a:pPr algn="ctr"/>
            <a:r>
              <a:rPr lang="en-US" sz="1100">
                <a:latin typeface="Google Sans"/>
                <a:ea typeface="Google Sans"/>
              </a:rPr>
              <a:t>Pushes localized danger indices to field teams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0" y="1091565"/>
            <a:ext cx="12192000" cy="7937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603875" y="1091565"/>
            <a:ext cx="45720" cy="307340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35" y="4164965"/>
            <a:ext cx="1219136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1910" y="6492240"/>
            <a:ext cx="12150090" cy="36576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HP Simplified Hans Light" panose="020B0300000000000000" charset="-122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TECH</a:t>
            </a:r>
          </a:p>
          <a:p>
            <a:pPr algn="ctr"/>
            <a:r>
              <a:rPr lang="en-US" altLang="en-IN" dirty="0"/>
              <a:t>TITANS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048000" y="2521585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8260" y="1059815"/>
            <a:ext cx="12130405" cy="515175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92D050"/>
                </a:solidFill>
                <a:latin typeface="Arial Black" panose="020B0A04020102020204" charset="0"/>
                <a:ea typeface="Google Sans"/>
                <a:cs typeface="Arial Black" panose="020B0A04020102020204" charset="0"/>
              </a:rPr>
              <a:t> </a:t>
            </a:r>
            <a:endParaRPr lang="en-US" sz="2400" b="0" dirty="0">
              <a:latin typeface="Google Sans"/>
              <a:ea typeface="Google San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F5508C-FB80-6BDC-BB15-1750A1AFE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" y="1444438"/>
            <a:ext cx="12157383" cy="40791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HP Simplified Hans Light" panose="020B0300000000000000" charset="-122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</a:t>
            </a:r>
          </a:p>
          <a:p>
            <a:pPr algn="ctr"/>
            <a:r>
              <a:rPr lang="en-IN" dirty="0"/>
              <a:t>TITANS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329565" y="1212215"/>
            <a:ext cx="5247005" cy="164147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sz="2400" b="1">
                <a:latin typeface="Arial Rounded MT Bold" panose="020F0704030504030204" charset="0"/>
                <a:ea typeface="Google Sans"/>
                <a:cs typeface="Arial Rounded MT Bold" panose="020F0704030504030204" charset="0"/>
              </a:rPr>
              <a:t>Evacuation Readiness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2400" b="0">
                <a:solidFill>
                  <a:srgbClr val="C00000"/>
                </a:solidFill>
                <a:latin typeface="Google Sans"/>
                <a:ea typeface="Google Sans"/>
              </a:rPr>
              <a:t>Provides predictive early warning timelines directly to district disaster authorities.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400" b="0">
                <a:latin typeface="Google Sans"/>
                <a:ea typeface="Google Sans"/>
              </a:rPr>
              <a:t>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sz="2400" b="0">
              <a:latin typeface="Google Sans"/>
              <a:ea typeface="Google Sans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IN" sz="2400" b="0">
              <a:latin typeface="Google Sans"/>
              <a:ea typeface="Google Sans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5648960" y="1212215"/>
            <a:ext cx="6096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400" b="1">
                <a:latin typeface="Arial Rounded MT Bold" panose="020F0704030504030204" charset="0"/>
                <a:ea typeface="Google Sans"/>
                <a:cs typeface="Arial Rounded MT Bold" panose="020F0704030504030204" charset="0"/>
                <a:sym typeface="+mn-ea"/>
              </a:rPr>
              <a:t>Responder Safety</a:t>
            </a:r>
            <a:endParaRPr sz="2400" b="1">
              <a:latin typeface="Arial Rounded MT Bold" panose="020F0704030504030204" charset="0"/>
              <a:ea typeface="Google Sans"/>
              <a:cs typeface="Arial Rounded MT Bold" panose="020F07040305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2400">
                <a:solidFill>
                  <a:schemeClr val="accent6"/>
                </a:solidFill>
                <a:latin typeface="Google Sans"/>
                <a:ea typeface="Google Sans"/>
                <a:sym typeface="+mn-ea"/>
              </a:rPr>
              <a:t>Generates live, automated risk maps to protect first responders from hazardous terrain paths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5874845" y="3803963"/>
            <a:ext cx="6096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400" b="1">
                <a:latin typeface="Arial Rounded MT Bold" panose="020F0704030504030204" charset="0"/>
                <a:ea typeface="Google Sans"/>
                <a:cs typeface="Arial Rounded MT Bold" panose="020F0704030504030204" charset="0"/>
                <a:sym typeface="+mn-ea"/>
              </a:rPr>
              <a:t>Asset Protection</a:t>
            </a:r>
            <a:endParaRPr sz="2400" b="1">
              <a:latin typeface="Arial Rounded MT Bold" panose="020F0704030504030204" charset="0"/>
              <a:ea typeface="Google Sans"/>
              <a:cs typeface="Arial Rounded MT Bold" panose="020F07040305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2400">
                <a:solidFill>
                  <a:schemeClr val="accent1"/>
                </a:solidFill>
                <a:latin typeface="Google Sans"/>
                <a:ea typeface="Google Sans"/>
                <a:sym typeface="+mn-ea"/>
              </a:rPr>
              <a:t>Flags highly vulnerable infrastructure zones to deploy preventative reinforcements e</a:t>
            </a:r>
            <a:r>
              <a:rPr lang="en-IN" sz="2400">
                <a:solidFill>
                  <a:schemeClr val="accent1"/>
                </a:solidFill>
                <a:latin typeface="Google Sans"/>
                <a:ea typeface="Google Sans"/>
                <a:sym typeface="+mn-ea"/>
              </a:rPr>
              <a:t>arly.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272108" y="3825559"/>
            <a:ext cx="5292090" cy="1976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400" b="1">
                <a:latin typeface="Arial Rounded MT Bold" panose="020F0704030504030204" charset="0"/>
                <a:ea typeface="Google Sans"/>
                <a:cs typeface="Arial Rounded MT Bold" panose="020F0704030504030204" charset="0"/>
                <a:sym typeface="+mn-ea"/>
              </a:rPr>
              <a:t>Institutional Alignment</a:t>
            </a:r>
            <a:endParaRPr sz="2400" b="1">
              <a:latin typeface="Arial Rounded MT Bold" panose="020F0704030504030204" charset="0"/>
              <a:ea typeface="Google Sans"/>
              <a:cs typeface="Arial Rounded MT Bold" panose="020F07040305040302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2400">
                <a:solidFill>
                  <a:srgbClr val="FFC000"/>
                </a:solidFill>
                <a:latin typeface="Google Sans"/>
                <a:ea typeface="Google Sans"/>
                <a:sym typeface="+mn-ea"/>
              </a:rPr>
              <a:t>Consolidates fragmented agency data feeds into a unified situational map layer</a:t>
            </a:r>
            <a:r>
              <a:rPr sz="2400">
                <a:latin typeface="Google Sans"/>
                <a:ea typeface="Google Sans"/>
                <a:sym typeface="+mn-ea"/>
              </a:rPr>
              <a:t>.</a:t>
            </a:r>
            <a:endParaRPr sz="2400">
              <a:latin typeface="Google Sans"/>
              <a:ea typeface="Google San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476875" y="1095375"/>
            <a:ext cx="172085" cy="52539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37705" y="3102769"/>
            <a:ext cx="11415395" cy="2120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HP Simplified Hans Light" panose="020B0300000000000000" charset="-122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87960" y="1026795"/>
            <a:ext cx="11842750" cy="53276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ea typeface="Calibri" panose="020F0502020204030204" pitchFamily="34" charset="0"/>
                <a:cs typeface="Calibri" panose="020F0502020204030204" pitchFamily="34" charset="0"/>
              </a:rPr>
              <a:t>Spatial Earth O</a:t>
            </a:r>
            <a:r>
              <a:rPr lang="en-US" sz="2800" b="1" dirty="0"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sz="2800" b="1" dirty="0">
                <a:ea typeface="Calibri" panose="020F0502020204030204" pitchFamily="34" charset="0"/>
                <a:cs typeface="Calibri" panose="020F0502020204030204" pitchFamily="34" charset="0"/>
              </a:rPr>
              <a:t>s Data: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Bernard MT Condensed" panose="02050806060905020404" charset="0"/>
                <a:ea typeface="Google Sans"/>
              </a:rPr>
              <a:t>	</a:t>
            </a:r>
            <a:r>
              <a:rPr sz="2400" b="0" dirty="0">
                <a:solidFill>
                  <a:srgbClr val="FF0000"/>
                </a:solidFill>
                <a:latin typeface="Google Sans"/>
                <a:ea typeface="Google Sans"/>
              </a:rPr>
              <a:t>Parameters adapted from public telemetry</a:t>
            </a:r>
            <a:r>
              <a:rPr sz="2400" b="0" dirty="0">
                <a:latin typeface="Google Sans"/>
                <a:ea typeface="Google Sans"/>
              </a:rPr>
              <a:t>, specifically Copernicus </a:t>
            </a:r>
            <a:r>
              <a:rPr sz="2400" b="0" dirty="0">
                <a:solidFill>
                  <a:srgbClr val="92D050"/>
                </a:solidFill>
                <a:latin typeface="Google Sans"/>
                <a:ea typeface="Google Sans"/>
              </a:rPr>
              <a:t>Sentinel-1/2 SAR/Optical </a:t>
            </a:r>
            <a:r>
              <a:rPr sz="2400" b="0" dirty="0">
                <a:latin typeface="Google Sans"/>
                <a:ea typeface="Google Sans"/>
              </a:rPr>
              <a:t>methodologies and NASA Earth</a:t>
            </a:r>
            <a:r>
              <a:rPr lang="en-US" sz="2400" b="0" dirty="0">
                <a:latin typeface="Google Sans"/>
                <a:ea typeface="Google Sans"/>
              </a:rPr>
              <a:t> </a:t>
            </a:r>
            <a:r>
              <a:rPr sz="2400" b="0" dirty="0">
                <a:latin typeface="Google Sans"/>
                <a:ea typeface="Google Sans"/>
              </a:rPr>
              <a:t>Data registries.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ea typeface="Calibri" panose="020F0502020204030204" pitchFamily="34" charset="0"/>
                <a:cs typeface="Calibri" panose="020F0502020204030204" pitchFamily="34" charset="0"/>
              </a:rPr>
              <a:t>AI Vision Baseline:</a:t>
            </a:r>
            <a:r>
              <a:rPr sz="2800" b="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sz="2400" b="0" dirty="0">
                <a:latin typeface="Google Sans"/>
                <a:ea typeface="Google Sans"/>
              </a:rPr>
              <a:t>	</a:t>
            </a:r>
            <a:r>
              <a:rPr sz="2400" b="0" dirty="0">
                <a:solidFill>
                  <a:srgbClr val="FF0000"/>
                </a:solidFill>
                <a:latin typeface="Google Sans"/>
                <a:ea typeface="Google Sans"/>
              </a:rPr>
              <a:t>Spatial segmentation frameworks </a:t>
            </a:r>
            <a:r>
              <a:rPr sz="2400" b="0" dirty="0">
                <a:latin typeface="Google Sans"/>
                <a:ea typeface="Google Sans"/>
              </a:rPr>
              <a:t>mapped from peer-reviewed computer vision research on </a:t>
            </a:r>
            <a:r>
              <a:rPr sz="2400" b="0" dirty="0">
                <a:solidFill>
                  <a:srgbClr val="9BBB59"/>
                </a:solidFill>
                <a:latin typeface="Google Sans"/>
                <a:ea typeface="Google Sans"/>
              </a:rPr>
              <a:t>environmental hazard classification.</a:t>
            </a:r>
          </a:p>
          <a:p>
            <a:pPr marL="0" inden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ea typeface="Calibri" panose="020F0502020204030204" pitchFamily="34" charset="0"/>
                <a:cs typeface="Calibri" panose="020F0502020204030204" pitchFamily="34" charset="0"/>
              </a:rPr>
              <a:t>Wireless Protocols: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400" b="0" dirty="0">
                <a:latin typeface="Google Sans"/>
                <a:ea typeface="Google Sans"/>
              </a:rPr>
              <a:t> </a:t>
            </a:r>
            <a:r>
              <a:rPr lang="en-US" sz="2400" b="0" dirty="0">
                <a:latin typeface="Google Sans"/>
                <a:ea typeface="Google Sans"/>
              </a:rPr>
              <a:t>	</a:t>
            </a:r>
            <a:r>
              <a:rPr sz="2400" b="0" dirty="0">
                <a:solidFill>
                  <a:srgbClr val="FF0000"/>
                </a:solidFill>
                <a:latin typeface="Google Sans"/>
                <a:ea typeface="Google Sans"/>
              </a:rPr>
              <a:t>Ad-hoc broad-range networking logic </a:t>
            </a:r>
            <a:r>
              <a:rPr sz="2400" b="0" dirty="0">
                <a:latin typeface="Google Sans"/>
                <a:ea typeface="Google Sans"/>
              </a:rPr>
              <a:t>built over standardized </a:t>
            </a:r>
            <a:r>
              <a:rPr sz="2400" b="0" dirty="0">
                <a:solidFill>
                  <a:srgbClr val="9BBB59"/>
                </a:solidFill>
                <a:latin typeface="Google Sans"/>
                <a:ea typeface="Google Sans"/>
              </a:rPr>
              <a:t>long-range low-power wide-area network</a:t>
            </a:r>
            <a:r>
              <a:rPr sz="2400" b="0" dirty="0">
                <a:latin typeface="Google Sans"/>
                <a:ea typeface="Google Sans"/>
              </a:rPr>
              <a:t> (LPWAN) structures.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ea typeface="Calibri" panose="020F0502020204030204" pitchFamily="34" charset="0"/>
                <a:cs typeface="Calibri" panose="020F0502020204030204" pitchFamily="34" charset="0"/>
              </a:rPr>
              <a:t>NDMA Guidelines: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400" b="0" dirty="0">
                <a:latin typeface="Google Sans"/>
                <a:ea typeface="Google Sans"/>
              </a:rPr>
              <a:t> </a:t>
            </a:r>
            <a:r>
              <a:rPr lang="en-US" sz="2400" b="0" dirty="0">
                <a:latin typeface="Google Sans"/>
                <a:ea typeface="Google Sans"/>
              </a:rPr>
              <a:t>	</a:t>
            </a:r>
            <a:r>
              <a:rPr sz="2400" b="0" dirty="0">
                <a:latin typeface="Google Sans"/>
                <a:ea typeface="Google Sans"/>
              </a:rPr>
              <a:t>Risk index definitions and alert staging steps </a:t>
            </a:r>
            <a:r>
              <a:rPr sz="2400" b="0" dirty="0">
                <a:solidFill>
                  <a:srgbClr val="FF0000"/>
                </a:solidFill>
                <a:latin typeface="Google Sans"/>
                <a:ea typeface="Google Sans"/>
              </a:rPr>
              <a:t>calibrated directly to national disaster mitigation standards</a:t>
            </a:r>
            <a:r>
              <a:rPr sz="1600" b="0" dirty="0">
                <a:latin typeface="Google Sans"/>
                <a:ea typeface="Google Sans"/>
              </a:rPr>
              <a:t>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213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P Simplified Hans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HP Simplified Hans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HP Simplified Hans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HP Simplified Hans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P Simplified Hans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D4D3C3-9C8E-4657-8F78-563DC0333B5E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458</Words>
  <Application>Microsoft Office PowerPoint</Application>
  <PresentationFormat>Widescreen</PresentationFormat>
  <Paragraphs>90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7" baseType="lpstr">
      <vt:lpstr>HP Simplified Hans Light</vt:lpstr>
      <vt:lpstr>MS PGothic</vt:lpstr>
      <vt:lpstr>Arial</vt:lpstr>
      <vt:lpstr>Arial Black</vt:lpstr>
      <vt:lpstr>Arial Rounded MT Bold</vt:lpstr>
      <vt:lpstr>Bell MT</vt:lpstr>
      <vt:lpstr>Berlin Sans FB Demi</vt:lpstr>
      <vt:lpstr>Bernard MT Condensed</vt:lpstr>
      <vt:lpstr>Britannic Bold</vt:lpstr>
      <vt:lpstr>Calibri</vt:lpstr>
      <vt:lpstr>Consolas</vt:lpstr>
      <vt:lpstr>Cooper Black</vt:lpstr>
      <vt:lpstr>Copperplate Gothic Bold</vt:lpstr>
      <vt:lpstr>Gabriola</vt:lpstr>
      <vt:lpstr>Garamond</vt:lpstr>
      <vt:lpstr>Google Sans</vt:lpstr>
      <vt:lpstr>Goudy Old Style</vt:lpstr>
      <vt:lpstr>Times New Roman</vt:lpstr>
      <vt:lpstr>TradeGothic</vt:lpstr>
      <vt:lpstr>Wingdings</vt:lpstr>
      <vt:lpstr>Office Theme</vt:lpstr>
      <vt:lpstr>SMART INDIA HACKATHON 2026</vt:lpstr>
      <vt:lpstr>TRISHUL   AI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shruthi r.j</cp:lastModifiedBy>
  <cp:revision>155</cp:revision>
  <dcterms:created xsi:type="dcterms:W3CDTF">2013-12-12T18:46:00Z</dcterms:created>
  <dcterms:modified xsi:type="dcterms:W3CDTF">2026-09-07T11:06:25Z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5CECD9F01C624828B3C3BF607020C9FF_12</vt:lpwstr>
  </property>
  <property fmtid="{D5CDD505-2E9C-101B-9397-08002B2CF9AE}" pid="3" name="KSOProductBuildVer">
    <vt:lpwstr>1033-12.1.0.28485</vt:lpwstr>
  </property>
</Properties>
</file>